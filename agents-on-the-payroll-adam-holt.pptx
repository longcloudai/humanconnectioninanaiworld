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93"/>
    <p:restoredTop sz="94610"/>
  </p:normalViewPr>
  <p:slideViewPr>
    <p:cSldViewPr snapToGrid="0" snapToObjects="1">
      <p:cViewPr varScale="1">
        <p:scale>
          <a:sx n="140" d="100"/>
          <a:sy n="140" d="100"/>
        </p:scale>
        <p:origin x="19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2546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651760"/>
            <a:ext cx="10545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56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THECOLAB.AI  ·  ADAM HOLT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3108960"/>
            <a:ext cx="105457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6800" b="1" dirty="0">
                <a:solidFill>
                  <a:srgbClr val="F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on the payroll</a:t>
            </a:r>
            <a:endParaRPr lang="en-US" sz="6800" dirty="0"/>
          </a:p>
        </p:txBody>
      </p:sp>
      <p:sp>
        <p:nvSpPr>
          <p:cNvPr id="4" name="Text 2"/>
          <p:cNvSpPr/>
          <p:nvPr/>
        </p:nvSpPr>
        <p:spPr>
          <a:xfrm>
            <a:off x="822960" y="4434840"/>
            <a:ext cx="896390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C9C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AI agents mean for the people inside your business —</a:t>
            </a:r>
            <a:endParaRPr lang="en-US" sz="2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C9C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how we're building it in the open.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621792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8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minutes · built together, in Aotearoa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300" dirty="0">
                <a:solidFill>
                  <a:srgbClr val="C56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WHO'S TALKING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59" y="1874520"/>
            <a:ext cx="105457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400" b="1" dirty="0">
                <a:solidFill>
                  <a:srgbClr val="F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Holt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105457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3172968"/>
            <a:ext cx="182880" cy="182880"/>
          </a:xfrm>
          <a:prstGeom prst="rect">
            <a:avLst/>
          </a:prstGeom>
          <a:solidFill>
            <a:srgbClr val="E09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98448" y="3044952"/>
            <a:ext cx="84884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00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Co-founder of thecolab.ai.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22960" y="3886200"/>
            <a:ext cx="182880" cy="182880"/>
          </a:xfrm>
          <a:prstGeom prst="rect">
            <a:avLst/>
          </a:prstGeom>
          <a:solidFill>
            <a:srgbClr val="E09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98448" y="3758184"/>
            <a:ext cx="84884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00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Zealand's first Claude Ambassador.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822960" y="4599432"/>
            <a:ext cx="182880" cy="182880"/>
          </a:xfrm>
          <a:prstGeom prst="rect">
            <a:avLst/>
          </a:prstGeom>
          <a:solidFill>
            <a:srgbClr val="E09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98448" y="4471416"/>
            <a:ext cx="84884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00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The For Good Project — in the open.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822960" y="5394960"/>
            <a:ext cx="54864" cy="640080"/>
          </a:xfrm>
          <a:prstGeom prst="rect">
            <a:avLst/>
          </a:prstGeom>
          <a:solidFill>
            <a:srgbClr val="E09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51558" y="5486400"/>
            <a:ext cx="1008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i="1" dirty="0">
                <a:solidFill>
                  <a:srgbClr val="8A8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run a team of agents in public, every day.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300" dirty="0">
                <a:solidFill>
                  <a:srgbClr val="C56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SHIFT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700" b="1" dirty="0">
                <a:solidFill>
                  <a:srgbClr val="F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was a tool.</a:t>
            </a:r>
            <a:endParaRPr lang="en-US" sz="37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700" b="1" dirty="0">
                <a:solidFill>
                  <a:srgbClr val="F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a </a:t>
            </a:r>
            <a:endParaRPr lang="en-US" sz="37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700" b="1" dirty="0">
                <a:solidFill>
                  <a:srgbClr val="E09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teammate</a:t>
            </a:r>
            <a:r>
              <a:rPr lang="en-US" sz="3700" b="1" dirty="0">
                <a:solidFill>
                  <a:srgbClr val="F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822960" y="3538728"/>
            <a:ext cx="182880" cy="182880"/>
          </a:xfrm>
          <a:prstGeom prst="rect">
            <a:avLst/>
          </a:prstGeom>
          <a:solidFill>
            <a:srgbClr val="E09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98448" y="3410712"/>
            <a:ext cx="9015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00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tool waits. An agent comes back with the work done.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22960" y="4251960"/>
            <a:ext cx="182880" cy="182880"/>
          </a:xfrm>
          <a:prstGeom prst="rect">
            <a:avLst/>
          </a:prstGeom>
          <a:solidFill>
            <a:srgbClr val="E09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98448" y="4123944"/>
            <a:ext cx="9015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00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 way: you do the steps. You're the engine.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822960" y="4965192"/>
            <a:ext cx="182880" cy="182880"/>
          </a:xfrm>
          <a:prstGeom prst="rect">
            <a:avLst/>
          </a:prstGeom>
          <a:solidFill>
            <a:srgbClr val="E09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98448" y="4837176"/>
            <a:ext cx="9015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00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way: you set the goal, check the result. You're the editor.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822960" y="5669280"/>
            <a:ext cx="54864" cy="640080"/>
          </a:xfrm>
          <a:prstGeom prst="rect">
            <a:avLst/>
          </a:prstGeom>
          <a:solidFill>
            <a:srgbClr val="E09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15568" y="5623560"/>
            <a:ext cx="10088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i="1" dirty="0">
                <a:solidFill>
                  <a:srgbClr val="8A8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"what can the software do?" — "what would I hand a new hire?"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300" dirty="0">
                <a:solidFill>
                  <a:srgbClr val="C56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MULTIPLAYER AI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700" b="1" dirty="0">
                <a:solidFill>
                  <a:srgbClr val="F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and agents</a:t>
            </a:r>
            <a:endParaRPr lang="en-US" sz="37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700" b="1" dirty="0">
                <a:solidFill>
                  <a:srgbClr val="F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</a:t>
            </a:r>
            <a:endParaRPr lang="en-US" sz="37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700" b="1" dirty="0">
                <a:solidFill>
                  <a:srgbClr val="E09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queue</a:t>
            </a:r>
            <a:r>
              <a:rPr lang="en-US" sz="3700" b="1" dirty="0">
                <a:solidFill>
                  <a:srgbClr val="F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700" dirty="0"/>
          </a:p>
        </p:txBody>
      </p:sp>
      <p:sp>
        <p:nvSpPr>
          <p:cNvPr id="4" name="Shape 2"/>
          <p:cNvSpPr/>
          <p:nvPr/>
        </p:nvSpPr>
        <p:spPr>
          <a:xfrm>
            <a:off x="822960" y="3538728"/>
            <a:ext cx="182880" cy="182880"/>
          </a:xfrm>
          <a:prstGeom prst="rect">
            <a:avLst/>
          </a:prstGeom>
          <a:solidFill>
            <a:srgbClr val="E09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98448" y="3410712"/>
            <a:ext cx="9015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00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 board. Both pick up work.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822960" y="4251960"/>
            <a:ext cx="182880" cy="182880"/>
          </a:xfrm>
          <a:prstGeom prst="rect">
            <a:avLst/>
          </a:prstGeom>
          <a:solidFill>
            <a:srgbClr val="E09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98448" y="4123944"/>
            <a:ext cx="9015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00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do the volume: research, drafts, first passes.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822960" y="4965192"/>
            <a:ext cx="182880" cy="182880"/>
          </a:xfrm>
          <a:prstGeom prst="rect">
            <a:avLst/>
          </a:prstGeom>
          <a:solidFill>
            <a:srgbClr val="E09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298448" y="4837176"/>
            <a:ext cx="9015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00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do the judgment: what matters, what ships.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822960" y="5669280"/>
            <a:ext cx="54864" cy="640080"/>
          </a:xfrm>
          <a:prstGeom prst="rect">
            <a:avLst/>
          </a:prstGeom>
          <a:solidFill>
            <a:srgbClr val="E09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15568" y="5623560"/>
            <a:ext cx="10088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i="1" dirty="0">
                <a:solidFill>
                  <a:srgbClr val="8A8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don't manage one AI. You run a team of them.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300" dirty="0">
                <a:solidFill>
                  <a:srgbClr val="C56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 ACTUALLY ARE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4000" b="1" dirty="0">
                <a:solidFill>
                  <a:srgbClr val="E09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</a:t>
            </a:r>
            <a:r>
              <a:rPr lang="en-US" sz="4000" b="1" dirty="0">
                <a:solidFill>
                  <a:srgbClr val="F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picture.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240280"/>
            <a:ext cx="5044288" cy="1920240"/>
          </a:xfrm>
          <a:prstGeom prst="roundRect">
            <a:avLst>
              <a:gd name="adj" fmla="val 4286"/>
            </a:avLst>
          </a:prstGeom>
          <a:solidFill>
            <a:srgbClr val="1A1512"/>
          </a:solidFill>
          <a:ln w="12700">
            <a:solidFill>
              <a:srgbClr val="2E2823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33856" y="2496312"/>
            <a:ext cx="449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C56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 FIRST, TRANSFORM LATER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33856" y="2990088"/>
            <a:ext cx="4573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C9C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AI just speeds up existing work for most people. That's the right place to start.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324448" y="2240280"/>
            <a:ext cx="5044288" cy="1920240"/>
          </a:xfrm>
          <a:prstGeom prst="roundRect">
            <a:avLst>
              <a:gd name="adj" fmla="val 4286"/>
            </a:avLst>
          </a:prstGeom>
          <a:solidFill>
            <a:srgbClr val="1A1512"/>
          </a:solidFill>
          <a:ln w="12700">
            <a:solidFill>
              <a:srgbClr val="2E2823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35344" y="2496312"/>
            <a:ext cx="449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C56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BEATS THE MODEL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35344" y="2990088"/>
            <a:ext cx="4459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C9C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edge is access to your data and allowing the AI to see your business.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22960" y="4480560"/>
            <a:ext cx="5044288" cy="1920240"/>
          </a:xfrm>
          <a:prstGeom prst="roundRect">
            <a:avLst>
              <a:gd name="adj" fmla="val 4286"/>
            </a:avLst>
          </a:prstGeom>
          <a:solidFill>
            <a:srgbClr val="1A1512"/>
          </a:solidFill>
          <a:ln w="12700">
            <a:solidFill>
              <a:srgbClr val="2E2823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33856" y="4736592"/>
            <a:ext cx="449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C56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SPRAWL IS ALREADY HERE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33856" y="5230368"/>
            <a:ext cx="4459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C9C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 staff on their own accounts. Cost and security slip. Govern early.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6324448" y="4480560"/>
            <a:ext cx="5044288" cy="1920240"/>
          </a:xfrm>
          <a:prstGeom prst="roundRect">
            <a:avLst>
              <a:gd name="adj" fmla="val 4286"/>
            </a:avLst>
          </a:prstGeom>
          <a:solidFill>
            <a:srgbClr val="1A1512"/>
          </a:solidFill>
          <a:ln w="12700">
            <a:solidFill>
              <a:srgbClr val="2E2823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35344" y="4736592"/>
            <a:ext cx="449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C56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CAPABILITY, NOT TOOLS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35344" y="5230368"/>
            <a:ext cx="44590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C9C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barrier is skills, not software. Learn to delegate first and how to describe outcomes.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300" dirty="0">
                <a:solidFill>
                  <a:srgbClr val="C56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PRINCIPLES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1054577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 the </a:t>
            </a:r>
            <a:r>
              <a:rPr lang="en-US" sz="3600" b="1" dirty="0">
                <a:solidFill>
                  <a:srgbClr val="E09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r>
              <a:rPr lang="en-US" sz="3600" b="1" dirty="0">
                <a:solidFill>
                  <a:srgbClr val="F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3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for the </a:t>
            </a:r>
            <a:endParaRPr lang="en-US" sz="36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E09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r>
              <a:rPr lang="en-US" sz="3600" b="1" dirty="0">
                <a:solidFill>
                  <a:srgbClr val="F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model.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3154680"/>
            <a:ext cx="5044288" cy="1879544"/>
          </a:xfrm>
          <a:prstGeom prst="roundRect">
            <a:avLst>
              <a:gd name="adj" fmla="val 4865"/>
            </a:avLst>
          </a:prstGeom>
          <a:solidFill>
            <a:srgbClr val="1A1512"/>
          </a:solidFill>
          <a:ln w="12700">
            <a:solidFill>
              <a:srgbClr val="2E2823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33856" y="3410712"/>
            <a:ext cx="449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C56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IN THE OPEN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33856" y="3904488"/>
            <a:ext cx="445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C9C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 pilots die quietly. Open work compounds, every finding is reusable. Transparency is the trust.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324448" y="3154680"/>
            <a:ext cx="5044288" cy="1879544"/>
          </a:xfrm>
          <a:prstGeom prst="roundRect">
            <a:avLst>
              <a:gd name="adj" fmla="val 4865"/>
            </a:avLst>
          </a:prstGeom>
          <a:solidFill>
            <a:srgbClr val="1A1512"/>
          </a:solidFill>
          <a:ln w="12700">
            <a:solidFill>
              <a:srgbClr val="2E2823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635344" y="3410712"/>
            <a:ext cx="449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C56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IN 6 MONTHS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635344" y="3904488"/>
            <a:ext cx="445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C9C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model is the worst you'll ever use. Design the workflow; let capability catch up.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22960" y="5166360"/>
            <a:ext cx="54864" cy="640080"/>
          </a:xfrm>
          <a:prstGeom prst="rect">
            <a:avLst/>
          </a:prstGeom>
          <a:solidFill>
            <a:srgbClr val="E09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133856" y="5349240"/>
            <a:ext cx="10088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i="1" dirty="0">
                <a:solidFill>
                  <a:srgbClr val="8A8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 on the trajectory, not the snapshot.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300" dirty="0">
                <a:solidFill>
                  <a:srgbClr val="C56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PLAN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</a:t>
            </a:r>
            <a:r>
              <a:rPr lang="en-US" sz="4000" b="1" dirty="0">
                <a:solidFill>
                  <a:srgbClr val="E09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r>
              <a:rPr lang="en-US" sz="4000" b="1" dirty="0">
                <a:solidFill>
                  <a:srgbClr val="F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2362124" cy="3108960"/>
          </a:xfrm>
          <a:prstGeom prst="roundRect">
            <a:avLst>
              <a:gd name="adj" fmla="val 3484"/>
            </a:avLst>
          </a:prstGeom>
          <a:solidFill>
            <a:srgbClr val="1A1512"/>
          </a:solidFill>
          <a:ln w="12700">
            <a:solidFill>
              <a:srgbClr val="2E2823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60704" y="2971800"/>
            <a:ext cx="19049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E09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INVENTORY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60704" y="3566160"/>
            <a:ext cx="19049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C9C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AI tool, account and data source. You can't govern what you can't see.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550844" y="2331720"/>
            <a:ext cx="2362124" cy="3108960"/>
          </a:xfrm>
          <a:prstGeom prst="roundRect">
            <a:avLst>
              <a:gd name="adj" fmla="val 3484"/>
            </a:avLst>
          </a:prstGeom>
          <a:solidFill>
            <a:srgbClr val="1A1512"/>
          </a:solidFill>
          <a:ln w="12700">
            <a:solidFill>
              <a:srgbClr val="2E2823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788588" y="2971800"/>
            <a:ext cx="20394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E09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GUARDRAILS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788588" y="3566160"/>
            <a:ext cx="19049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C9C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Champions, plus a one-page usage policy.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78728" y="2331720"/>
            <a:ext cx="2362124" cy="3108960"/>
          </a:xfrm>
          <a:prstGeom prst="roundRect">
            <a:avLst>
              <a:gd name="adj" fmla="val 3484"/>
            </a:avLst>
          </a:prstGeom>
          <a:solidFill>
            <a:srgbClr val="1A1512"/>
          </a:solidFill>
          <a:ln w="12700">
            <a:solidFill>
              <a:srgbClr val="2E2823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16472" y="2971800"/>
            <a:ext cx="21243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E09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DATA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16472" y="3566160"/>
            <a:ext cx="19049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C9C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permissioned source of truth. Marketing and finance need to see the same figures.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006611" y="2331720"/>
            <a:ext cx="2362124" cy="3108960"/>
          </a:xfrm>
          <a:prstGeom prst="roundRect">
            <a:avLst>
              <a:gd name="adj" fmla="val 3484"/>
            </a:avLst>
          </a:prstGeom>
          <a:solidFill>
            <a:srgbClr val="1A1512"/>
          </a:solidFill>
          <a:ln w="12700">
            <a:solidFill>
              <a:srgbClr val="2E2823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244355" y="2971800"/>
            <a:ext cx="19049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E09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PILOTS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244355" y="3566160"/>
            <a:ext cx="19049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C9C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Measure. Share wins. Expand.</a:t>
            </a:r>
            <a:br>
              <a:rPr lang="en-US" sz="1600" dirty="0">
                <a:solidFill>
                  <a:srgbClr val="C9C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br>
              <a:rPr lang="en-US" sz="1600" dirty="0">
                <a:solidFill>
                  <a:srgbClr val="C9C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600" dirty="0">
                <a:solidFill>
                  <a:srgbClr val="C9C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It’s ok if something doesn’t work.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300" dirty="0">
                <a:solidFill>
                  <a:srgbClr val="C56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QUICK WIN WORTH STARTING NOW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Example: </a:t>
            </a:r>
            <a:r>
              <a:rPr lang="en-US" sz="4000" b="1" dirty="0">
                <a:solidFill>
                  <a:srgbClr val="E09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automation</a:t>
            </a:r>
            <a:r>
              <a:rPr lang="en-US" sz="4000" b="1" dirty="0">
                <a:solidFill>
                  <a:srgbClr val="F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822960" y="2240279"/>
            <a:ext cx="5044288" cy="3035105"/>
          </a:xfrm>
          <a:prstGeom prst="roundRect">
            <a:avLst>
              <a:gd name="adj" fmla="val 3000"/>
            </a:avLst>
          </a:prstGeom>
          <a:solidFill>
            <a:srgbClr val="1A1512"/>
          </a:solidFill>
          <a:ln w="12700">
            <a:solidFill>
              <a:srgbClr val="2E2823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33856" y="2496312"/>
            <a:ext cx="449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C56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PO2ORDER.COM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33856" y="2990088"/>
            <a:ext cx="44590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900" dirty="0">
                <a:solidFill>
                  <a:srgbClr val="C9C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Removes manual order entry entirely, the repetitive, high-volume job an agent should own first.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33856" y="4389120"/>
            <a:ext cx="449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A8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Integrates Xero · QuickBooks · Dynamics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24448" y="2240280"/>
            <a:ext cx="5044288" cy="3035104"/>
          </a:xfrm>
          <a:prstGeom prst="roundRect">
            <a:avLst>
              <a:gd name="adj" fmla="val 3000"/>
            </a:avLst>
          </a:prstGeom>
          <a:solidFill>
            <a:srgbClr val="1A1512"/>
          </a:solidFill>
          <a:ln w="12700">
            <a:solidFill>
              <a:srgbClr val="2E2823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35344" y="2496312"/>
            <a:ext cx="44956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200" dirty="0">
                <a:solidFill>
                  <a:srgbClr val="C56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35344" y="3063240"/>
            <a:ext cx="445907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110000"/>
              </a:lnSpc>
              <a:spcAft>
                <a:spcPts val="1000"/>
              </a:spcAft>
              <a:buSzPct val="100000"/>
              <a:buChar char="–"/>
            </a:pPr>
            <a:r>
              <a:rPr lang="en-US" sz="1800" dirty="0">
                <a:solidFill>
                  <a:srgbClr val="C9C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emails a PO — PDF, Excel, even a photo.</a:t>
            </a:r>
            <a:endParaRPr lang="en-US" sz="1800" dirty="0"/>
          </a:p>
          <a:p>
            <a:pPr marL="342900" indent="-342900" algn="l">
              <a:lnSpc>
                <a:spcPct val="110000"/>
              </a:lnSpc>
              <a:spcAft>
                <a:spcPts val="1000"/>
              </a:spcAft>
              <a:buSzPct val="100000"/>
              <a:buChar char="–"/>
            </a:pPr>
            <a:r>
              <a:rPr lang="en-US" sz="1800" dirty="0">
                <a:solidFill>
                  <a:srgbClr val="C9C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reads every line item, SKU and quantity.</a:t>
            </a:r>
            <a:endParaRPr lang="en-US" sz="1800" dirty="0"/>
          </a:p>
          <a:p>
            <a:pPr marL="342900" indent="-342900" algn="l">
              <a:lnSpc>
                <a:spcPct val="110000"/>
              </a:lnSpc>
              <a:buSzPct val="100000"/>
              <a:buChar char="–"/>
            </a:pPr>
            <a:r>
              <a:rPr lang="en-US" sz="1800" dirty="0">
                <a:solidFill>
                  <a:srgbClr val="C9C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sales order lands in your ERP.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91810" y="5440680"/>
            <a:ext cx="54864" cy="640080"/>
          </a:xfrm>
          <a:prstGeom prst="rect">
            <a:avLst/>
          </a:prstGeom>
          <a:solidFill>
            <a:srgbClr val="E09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33856" y="5720125"/>
            <a:ext cx="10088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i="1" dirty="0">
                <a:solidFill>
                  <a:srgbClr val="8A8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hours saved, low risk — and it already exists.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300" dirty="0">
                <a:solidFill>
                  <a:srgbClr val="C56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LIVE EXAMPLE · FOR GOOD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10545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4000" b="1" dirty="0">
                <a:solidFill>
                  <a:srgbClr val="E09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Good</a:t>
            </a:r>
            <a:r>
              <a:rPr lang="en-US" sz="4000" b="1" dirty="0">
                <a:solidFill>
                  <a:srgbClr val="F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Project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01848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C9C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People and agents work the same queue — on New Zealand's biggest problems.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2788920"/>
            <a:ext cx="2327834" cy="1737360"/>
          </a:xfrm>
          <a:prstGeom prst="roundRect">
            <a:avLst>
              <a:gd name="adj" fmla="val 4737"/>
            </a:avLst>
          </a:prstGeom>
          <a:solidFill>
            <a:srgbClr val="1A1512"/>
          </a:solidFill>
          <a:ln w="12700">
            <a:solidFill>
              <a:srgbClr val="2E2823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97280" y="3063240"/>
            <a:ext cx="457200" cy="457200"/>
          </a:xfrm>
          <a:prstGeom prst="ellipse">
            <a:avLst/>
          </a:prstGeom>
          <a:solidFill>
            <a:srgbClr val="E09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0D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3630168"/>
            <a:ext cx="18706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97280" y="4050792"/>
            <a:ext cx="18706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8A8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 a real problem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69082" y="3291840"/>
            <a:ext cx="374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9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3562274" y="2788920"/>
            <a:ext cx="2327834" cy="1737360"/>
          </a:xfrm>
          <a:prstGeom prst="roundRect">
            <a:avLst>
              <a:gd name="adj" fmla="val 4737"/>
            </a:avLst>
          </a:prstGeom>
          <a:solidFill>
            <a:srgbClr val="1A1512"/>
          </a:solidFill>
          <a:ln w="12700">
            <a:solidFill>
              <a:srgbClr val="2E2823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836594" y="3063240"/>
            <a:ext cx="457200" cy="457200"/>
          </a:xfrm>
          <a:prstGeom prst="ellipse">
            <a:avLst/>
          </a:prstGeom>
          <a:solidFill>
            <a:srgbClr val="E09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36594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0D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836594" y="3630168"/>
            <a:ext cx="18706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3836594" y="4050792"/>
            <a:ext cx="18706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8A8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it, with citations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08396" y="3291840"/>
            <a:ext cx="374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9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6301588" y="2788920"/>
            <a:ext cx="2327834" cy="1737360"/>
          </a:xfrm>
          <a:prstGeom prst="roundRect">
            <a:avLst>
              <a:gd name="adj" fmla="val 4737"/>
            </a:avLst>
          </a:prstGeom>
          <a:solidFill>
            <a:srgbClr val="1A1512"/>
          </a:solidFill>
          <a:ln w="12700">
            <a:solidFill>
              <a:srgbClr val="2E2823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575908" y="3063240"/>
            <a:ext cx="457200" cy="457200"/>
          </a:xfrm>
          <a:prstGeom prst="ellipse">
            <a:avLst/>
          </a:prstGeom>
          <a:solidFill>
            <a:srgbClr val="E09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75908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0D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75908" y="3630168"/>
            <a:ext cx="18706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Ideate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575908" y="4050792"/>
            <a:ext cx="18706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8A8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findings into solutions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47709" y="3291840"/>
            <a:ext cx="3749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90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9040901" y="2788920"/>
            <a:ext cx="2327834" cy="1737360"/>
          </a:xfrm>
          <a:prstGeom prst="roundRect">
            <a:avLst>
              <a:gd name="adj" fmla="val 4737"/>
            </a:avLst>
          </a:prstGeom>
          <a:solidFill>
            <a:srgbClr val="1A1512"/>
          </a:solidFill>
          <a:ln w="12700">
            <a:solidFill>
              <a:srgbClr val="2E2823"/>
            </a:solidFill>
            <a:prstDash val="solid"/>
          </a:ln>
          <a:effectLst>
            <a:outerShdw blurRad="88900" dist="38100" dir="5400000" algn="bl" rotWithShape="0">
              <a:srgbClr val="000000">
                <a:alpha val="2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315221" y="3063240"/>
            <a:ext cx="457200" cy="457200"/>
          </a:xfrm>
          <a:prstGeom prst="ellipse">
            <a:avLst/>
          </a:prstGeom>
          <a:solidFill>
            <a:srgbClr val="E09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315221" y="3072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0D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315221" y="3630168"/>
            <a:ext cx="187063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315221" y="4050792"/>
            <a:ext cx="18706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8A8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the best one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822960" y="4983480"/>
            <a:ext cx="54864" cy="640080"/>
          </a:xfrm>
          <a:prstGeom prst="rect">
            <a:avLst/>
          </a:prstGeom>
          <a:solidFill>
            <a:srgbClr val="E09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115568" y="4937760"/>
            <a:ext cx="10088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i="1" dirty="0">
                <a:solidFill>
                  <a:srgbClr val="8A8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do the volume. A human decides what's meaningful and what ships.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9F1CDC1-05F2-949A-4D3C-22A462649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72931" y="-110620"/>
            <a:ext cx="15137861" cy="6968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6117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300" dirty="0">
                <a:solidFill>
                  <a:srgbClr val="C56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THIS INTO YOUR BUSINESS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105457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4200" b="1" dirty="0">
                <a:solidFill>
                  <a:srgbClr val="E09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$5k</a:t>
            </a:r>
            <a:r>
              <a:rPr lang="en-US" sz="4200" b="1" dirty="0">
                <a:solidFill>
                  <a:srgbClr val="F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 Discovery Sprint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2011680"/>
            <a:ext cx="94911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100" dirty="0">
                <a:solidFill>
                  <a:srgbClr val="C9C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where agents actually pay off in your business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3081528"/>
            <a:ext cx="182880" cy="182880"/>
          </a:xfrm>
          <a:prstGeom prst="rect">
            <a:avLst/>
          </a:prstGeom>
          <a:solidFill>
            <a:srgbClr val="E09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98448" y="2953512"/>
            <a:ext cx="9015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00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map your business and find the highest-leverage jobs to offload.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822960" y="3794760"/>
            <a:ext cx="182880" cy="182880"/>
          </a:xfrm>
          <a:prstGeom prst="rect">
            <a:avLst/>
          </a:prstGeom>
          <a:solidFill>
            <a:srgbClr val="E09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98448" y="3666744"/>
            <a:ext cx="9015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00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leave with a plan, not a slide deck.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822960" y="4507992"/>
            <a:ext cx="182880" cy="182880"/>
          </a:xfrm>
          <a:prstGeom prst="rect">
            <a:avLst/>
          </a:prstGeom>
          <a:solidFill>
            <a:srgbClr val="E09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298448" y="4379976"/>
            <a:ext cx="9015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300" dirty="0">
                <a:solidFill>
                  <a:srgbClr val="F4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price, fixed timeline. 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822960" y="5212080"/>
            <a:ext cx="54864" cy="640080"/>
          </a:xfrm>
          <a:prstGeom prst="rect">
            <a:avLst/>
          </a:prstGeom>
          <a:solidFill>
            <a:srgbClr val="E090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15568" y="5166360"/>
            <a:ext cx="1008857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br>
              <a:rPr lang="en-US" sz="1700" i="1" dirty="0">
                <a:solidFill>
                  <a:srgbClr val="8A8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700" i="1" dirty="0">
                <a:solidFill>
                  <a:srgbClr val="8A8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cheapest question you'll ask all year.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D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23444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300" dirty="0">
                <a:solidFill>
                  <a:srgbClr val="C56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TAKEAWAY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1054577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5000" b="1" dirty="0">
                <a:solidFill>
                  <a:srgbClr val="F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 the open.</a:t>
            </a:r>
            <a:endParaRPr lang="en-US" sz="50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5000" b="1" dirty="0">
                <a:solidFill>
                  <a:srgbClr val="F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for the model that's coming.</a:t>
            </a:r>
            <a:endParaRPr lang="en-US" sz="5000" dirty="0"/>
          </a:p>
          <a:p>
            <a:pPr marL="0" indent="0" algn="l">
              <a:lnSpc>
                <a:spcPct val="112000"/>
              </a:lnSpc>
              <a:buNone/>
            </a:pPr>
            <a:r>
              <a:rPr lang="en-US" sz="5000" b="1" dirty="0">
                <a:solidFill>
                  <a:srgbClr val="F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agents on the </a:t>
            </a:r>
            <a:r>
              <a:rPr lang="en-US" sz="5000" b="1" dirty="0">
                <a:solidFill>
                  <a:srgbClr val="E09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r>
              <a:rPr lang="en-US" sz="5000" b="1" dirty="0">
                <a:solidFill>
                  <a:srgbClr val="F4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822960" y="4617720"/>
            <a:ext cx="94911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9C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it live: </a:t>
            </a:r>
            <a:r>
              <a:rPr lang="en-US" sz="1900" dirty="0" err="1">
                <a:solidFill>
                  <a:srgbClr val="C9C4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forgood.thecolab.ai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22960" y="621792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8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 Holt · thecolab.ai · AI expertise, built together.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698</Words>
  <Application>Microsoft Macintosh PowerPoint</Application>
  <PresentationFormat>Widescreen</PresentationFormat>
  <Paragraphs>109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Agents on the payroll</dc:title>
  <dc:subject>PptxGenJS Presentation</dc:subject>
  <dc:creator>Adam Holt</dc:creator>
  <cp:lastModifiedBy>Adam Holt</cp:lastModifiedBy>
  <cp:revision>3</cp:revision>
  <dcterms:created xsi:type="dcterms:W3CDTF">2026-07-06T02:54:55Z</dcterms:created>
  <dcterms:modified xsi:type="dcterms:W3CDTF">2026-07-06T04:14:23Z</dcterms:modified>
</cp:coreProperties>
</file>